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2" r:id="rId2"/>
    <p:sldId id="258" r:id="rId3"/>
    <p:sldId id="2790" r:id="rId4"/>
    <p:sldId id="2796" r:id="rId5"/>
    <p:sldId id="2791" r:id="rId6"/>
    <p:sldId id="2792" r:id="rId7"/>
    <p:sldId id="2793" r:id="rId8"/>
    <p:sldId id="2795" r:id="rId9"/>
    <p:sldId id="2789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334"/>
    <a:srgbClr val="C00000"/>
    <a:srgbClr val="FFB6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>
        <p:scale>
          <a:sx n="125" d="100"/>
          <a:sy n="125" d="100"/>
        </p:scale>
        <p:origin x="-30" y="-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8E0483-793B-4401-865A-8307974159DB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340AE3-311D-48C8-81FC-C1EF8DFC05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016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FBC7F6-8795-41B3-BFE1-6177D44CC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AC4982E-FFAD-46E6-AFB3-30582E5635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402079-772A-41C1-B1F9-0A4ABB720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FCB9A-AB07-414D-B5B4-770EA6F63619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EF62D7-68D4-4E93-B5B8-B0032F510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F925EB-6037-455A-A0AC-F6CDFEC19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BF9A7-C7A4-4EC0-9887-AD1A62F8C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303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9B5F6D-C0E6-47F4-8F3D-3A0A3F7BA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190986-10BF-4618-8435-EB1034842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7D632B-E621-46E4-84E1-C75BFF872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FCB9A-AB07-414D-B5B4-770EA6F63619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B4D0D8-4427-457B-A0EA-D162A49D1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8C7F25-91C9-4C39-8E7F-63635845F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BF9A7-C7A4-4EC0-9887-AD1A62F8C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873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846C36-D875-418B-8581-D49729AD4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4D5738-604F-46FE-A13E-045D47E6C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1BD515-18D3-42FD-9ABE-771F45CCC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FCB9A-AB07-414D-B5B4-770EA6F63619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F83DD5-7A5A-4305-8D6C-FEE242A7F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CF7D11-A3F6-4A42-80F6-77D12ECEE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BF9A7-C7A4-4EC0-9887-AD1A62F8C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8390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E52114-C2ED-4EA2-808F-F7AC9F203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4895FC-3304-4421-8B5F-AC8AFF7BFE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1B73E55-D392-4579-8CA9-66E7A7900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92B8821-973A-407D-A6A9-39757D271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FCB9A-AB07-414D-B5B4-770EA6F63619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492CC07-BC72-46B4-A5C5-409A85608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1C54706-C2BB-482E-B69F-4F5CE5074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BF9A7-C7A4-4EC0-9887-AD1A62F8C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932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5D0126-37D9-495C-9B45-242E7E500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670E1F1-0E6D-44AB-9FDC-565CCFA56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B8D54A0-DFE2-4087-8BD3-1439984FD3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53D770A-6327-4070-B0BD-5E5EC4F02E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B64E74A-2AFB-4472-86F2-4282D21840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AE74FFB-CCC6-4098-9102-029C03A68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FCB9A-AB07-414D-B5B4-770EA6F63619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74BA8E9-A857-4EFC-9789-CD22894F8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8E3819E-A3F1-40FC-B260-E4F324C3E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BF9A7-C7A4-4EC0-9887-AD1A62F8C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7583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9403E6-1439-4B37-AF64-790F5258C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A28FD9A-76BE-4F02-9BEE-447FF0EA0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FCB9A-AB07-414D-B5B4-770EA6F63619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80C383E-DC04-4961-80EA-BC8EED323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39B7487-30F2-465D-BDDE-11D8905E7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BF9A7-C7A4-4EC0-9887-AD1A62F8C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8695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46A319B-0710-4C2E-893F-D933B50A0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FCB9A-AB07-414D-B5B4-770EA6F63619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38F2CEC-5345-490C-853B-AE2587006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B4EBD2-3B9C-4D51-966D-CE3063B42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BF9A7-C7A4-4EC0-9887-AD1A62F8C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6013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18BCD5-5918-4E00-9506-E0CF429AC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7B247E-10DA-4983-9D37-2259512EA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7E7225F-5BF7-4131-B1DA-8A5CB4AA2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7A2BBFC-E089-425C-B9B1-F9845C2FF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FCB9A-AB07-414D-B5B4-770EA6F63619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C74B6F-D154-4E44-BFA0-1F3C01859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11870B-D35C-4E4B-A095-663552DF3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BF9A7-C7A4-4EC0-9887-AD1A62F8C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455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ED6740-D547-4B60-8B27-EC50D55A8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212BB6C-1F7C-4DC9-BA78-90CC425BA7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B44AC5D-D765-4307-A09E-92CA9CC13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6D575D8-8CD4-4126-9AA4-2B8171703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FCB9A-AB07-414D-B5B4-770EA6F63619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D1F053-1423-429D-AFEB-C15E2951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BFBBDBE-F1E1-4558-8DA3-10A421AAE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BF9A7-C7A4-4EC0-9887-AD1A62F8C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0893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961A0B-5125-4C3D-A140-95DA22C50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057085F-FC73-45F1-A2D5-A7BCAC866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D231AD-D5D8-495F-A536-15EC88731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FCB9A-AB07-414D-B5B4-770EA6F63619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341187-6950-44F1-9FD4-7031A612D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9A4927-2D0F-4408-8945-A1CA3BAD3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BF9A7-C7A4-4EC0-9887-AD1A62F8C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4845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98A94C2-0E21-482C-81ED-28C12E01B3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CEB1C34-22D2-4AA3-B2D3-B76B4B8C6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209C77-1BE9-4D02-9FB1-9981410DD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FCB9A-AB07-414D-B5B4-770EA6F63619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151D31-7168-47A5-AEB6-E1394CB0A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17F8DD-B76F-4CF8-B541-B0A6948F2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BF9A7-C7A4-4EC0-9887-AD1A62F8C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32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74B6D7-2A00-4389-A22B-930769459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912C7C-1F68-4494-B577-554E7C743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3E6970-23FC-4034-8FD3-F8573CB54F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FCB9A-AB07-414D-B5B4-770EA6F63619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3072D0-114C-492D-B198-F47A632657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F52637-ADDB-4561-9705-71B175B1FB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8BF9A7-C7A4-4EC0-9887-AD1A62F8C9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8717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Sylvanas128/orbit-review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ylvanas128/orbit-review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647536" y="2088677"/>
            <a:ext cx="8165538" cy="169955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altLang="ru-RU" sz="4800" b="1" cap="all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тональности отзывов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3D7F4B3-1F19-4201-9557-DDF12DBEDF75}"/>
              </a:ext>
            </a:extLst>
          </p:cNvPr>
          <p:cNvSpPr/>
          <p:nvPr/>
        </p:nvSpPr>
        <p:spPr>
          <a:xfrm>
            <a:off x="647535" y="4559631"/>
            <a:ext cx="1116999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Проект по дисциплине «Проектный практикум»</a:t>
            </a:r>
          </a:p>
          <a:p>
            <a:endParaRPr lang="ru-RU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Выполнил: Мубараков Кирилл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Наилевич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Группа: ЗИИНм-1-26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Руководитель: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Хамитов Ренат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Минзашарифович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доцент, к.т.н., доцент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каф.ИТИС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83906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3DD0EEB-5277-489A-B9FE-77CECE4C6411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6AEE3EC-AE31-4913-843B-33079C5871A3}"/>
              </a:ext>
            </a:extLst>
          </p:cNvPr>
          <p:cNvSpPr txBox="1">
            <a:spLocks/>
          </p:cNvSpPr>
          <p:nvPr/>
        </p:nvSpPr>
        <p:spPr>
          <a:xfrm>
            <a:off x="2054831" y="162795"/>
            <a:ext cx="9414357" cy="6459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spcAft>
                <a:spcPts val="0"/>
              </a:spcAft>
            </a:pPr>
            <a:r>
              <a:rPr lang="ru-RU" sz="2400" b="1" cap="all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ОПИСАНИЕ ЗАДАЧИ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B893850-79F8-4257-9B38-1693348B6313}"/>
              </a:ext>
            </a:extLst>
          </p:cNvPr>
          <p:cNvSpPr/>
          <p:nvPr/>
        </p:nvSpPr>
        <p:spPr>
          <a:xfrm>
            <a:off x="421906" y="1260525"/>
            <a:ext cx="556088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lvl="1" algn="just" fontAlgn="base">
              <a:lnSpc>
                <a:spcPct val="90000"/>
              </a:lnSpc>
            </a:pPr>
            <a:r>
              <a:rPr lang="ru-RU" sz="20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Формулировка задачи</a:t>
            </a:r>
          </a:p>
          <a:p>
            <a:pPr marL="355600" lvl="1" indent="-342900" algn="just" fontAlgn="bas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Создание полноценной программной системы для автоматической классификации текстовых отзывов на любые товары и услуги на положительные и отрицательные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7FA5C6F5-1EFF-42A3-80C5-C8DCFA9B66A7}"/>
              </a:ext>
            </a:extLst>
          </p:cNvPr>
          <p:cNvSpPr/>
          <p:nvPr/>
        </p:nvSpPr>
        <p:spPr>
          <a:xfrm>
            <a:off x="6631117" y="1252701"/>
            <a:ext cx="556088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lvl="1" algn="just" fontAlgn="base">
              <a:lnSpc>
                <a:spcPct val="90000"/>
              </a:lnSpc>
            </a:pPr>
            <a:r>
              <a:rPr lang="ru-RU" sz="20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Цель работы</a:t>
            </a:r>
          </a:p>
          <a:p>
            <a:pPr marL="355600" lvl="1" indent="-342900" algn="just" fontAlgn="bas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Разработка приложения, которое разделяет на положительные и отрицательные отзывы, введенные пользователем</a:t>
            </a:r>
          </a:p>
          <a:p>
            <a:pPr marL="12700" lvl="1" algn="just" fontAlgn="base">
              <a:lnSpc>
                <a:spcPct val="90000"/>
              </a:lnSpc>
            </a:pPr>
            <a:endParaRPr lang="ru-RU" sz="20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12700" lvl="1" algn="just" fontAlgn="base">
              <a:lnSpc>
                <a:spcPct val="90000"/>
              </a:lnSpc>
            </a:pPr>
            <a:r>
              <a:rPr lang="ru-RU" sz="20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Задачи</a:t>
            </a:r>
          </a:p>
          <a:p>
            <a:pPr marL="355600" lvl="1" indent="-342900" algn="just" fontAlgn="bas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Выбор модели</a:t>
            </a:r>
            <a:r>
              <a:rPr lang="en-US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;</a:t>
            </a:r>
          </a:p>
          <a:p>
            <a:pPr marL="355600" lvl="1" indent="-342900" algn="just" fontAlgn="bas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Программная интеграция на </a:t>
            </a:r>
            <a:r>
              <a:rPr lang="en-US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Python;</a:t>
            </a:r>
          </a:p>
          <a:p>
            <a:pPr marL="355600" lvl="1" indent="-342900" algn="just" fontAlgn="bas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Реализация </a:t>
            </a:r>
            <a:r>
              <a:rPr lang="en-US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Web-</a:t>
            </a:r>
            <a:r>
              <a:rPr lang="ru-RU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приложения</a:t>
            </a:r>
            <a:r>
              <a:rPr lang="en-US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55600" lvl="1" indent="-342900" algn="just" fontAlgn="bas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Размещение кода на </a:t>
            </a:r>
            <a:r>
              <a:rPr lang="en-US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GitHub;</a:t>
            </a:r>
          </a:p>
          <a:p>
            <a:pPr marL="355600" lvl="1" indent="-342900" algn="just" fontAlgn="bas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Настройка удаленного развертывания.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359CB88-0B33-49F1-4A51-C38723455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06" y="3062573"/>
            <a:ext cx="5911524" cy="30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928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3DD0EEB-5277-489A-B9FE-77CECE4C6411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6AEE3EC-AE31-4913-843B-33079C5871A3}"/>
              </a:ext>
            </a:extLst>
          </p:cNvPr>
          <p:cNvSpPr txBox="1">
            <a:spLocks/>
          </p:cNvSpPr>
          <p:nvPr/>
        </p:nvSpPr>
        <p:spPr>
          <a:xfrm>
            <a:off x="2065106" y="162795"/>
            <a:ext cx="9924835" cy="6459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spcAft>
                <a:spcPts val="0"/>
              </a:spcAft>
            </a:pPr>
            <a:r>
              <a:rPr lang="ru-RU" sz="2400" b="1" cap="all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ОПИСАНИЕ ПРЕДВАРИТЕЛЬНО ОБУЧЕННОЙ МОДЕЛИ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441B485-D7CD-49CD-A4E6-BA79C5E7DDC0}"/>
              </a:ext>
            </a:extLst>
          </p:cNvPr>
          <p:cNvSpPr/>
          <p:nvPr/>
        </p:nvSpPr>
        <p:spPr>
          <a:xfrm>
            <a:off x="421906" y="1260525"/>
            <a:ext cx="556088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lvl="1" algn="just" fontAlgn="base">
              <a:lnSpc>
                <a:spcPct val="90000"/>
              </a:lnSpc>
            </a:pPr>
            <a:r>
              <a:rPr lang="ru-RU" sz="20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Характеристики модели</a:t>
            </a:r>
          </a:p>
          <a:p>
            <a:pPr marL="355600" lvl="1" indent="-342900" algn="just" fontAlgn="bas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Архитектура </a:t>
            </a:r>
            <a:r>
              <a:rPr lang="en-US" sz="20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nlpconnect</a:t>
            </a:r>
            <a:r>
              <a:rPr lang="en-US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/vit-gpt2-image-captioning </a:t>
            </a:r>
            <a:r>
              <a:rPr lang="ru-RU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с платформы </a:t>
            </a:r>
            <a:r>
              <a:rPr lang="en-US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Hugging Face.</a:t>
            </a:r>
            <a:endParaRPr lang="ru-RU" sz="20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55600" lvl="1" indent="-342900" algn="just" fontAlgn="bas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Модель создана на базе популярной Python-библиотеки для машинного обучения </a:t>
            </a:r>
            <a:r>
              <a:rPr lang="ru-RU" sz="2000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Scikit-learn</a:t>
            </a:r>
            <a:r>
              <a:rPr lang="ru-RU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 marL="355600" lvl="1" indent="-342900" algn="just" fontAlgn="bas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На входе: Строка текста (текстовый отзыв пользователя на любой товар или услугу).На выходе: Класс тональности (в коде идет проверка: если модель выдает 1 - отзыв позитивный, если 0 - негативный).</a:t>
            </a:r>
          </a:p>
          <a:p>
            <a:pPr marL="355600" lvl="1" indent="-342900" algn="just" fontAlgn="bas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Модель обучалась на открытом </a:t>
            </a:r>
            <a:r>
              <a:rPr lang="en-US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e-commerce </a:t>
            </a:r>
            <a:r>
              <a:rPr lang="ru-RU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датасете «</a:t>
            </a:r>
            <a:r>
              <a:rPr lang="en-US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Russian Product Reviews Dataset»</a:t>
            </a:r>
            <a:endParaRPr lang="ru-RU" sz="20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55600" lvl="1" indent="-342900" algn="just" fontAlgn="bas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jmlr.org/papers/v12/pedregosa11a.html</a:t>
            </a:r>
            <a:endParaRPr lang="ru-RU" sz="20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70D9586B-55D8-913D-ECCA-C918E5A188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90" t="5694" r="14123" b="9207"/>
          <a:stretch/>
        </p:blipFill>
        <p:spPr bwMode="auto">
          <a:xfrm>
            <a:off x="7565362" y="1006087"/>
            <a:ext cx="3994034" cy="5406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CDFAF6-4630-0A58-B9AD-6158DEEF4C5C}"/>
              </a:ext>
            </a:extLst>
          </p:cNvPr>
          <p:cNvSpPr txBox="1"/>
          <p:nvPr/>
        </p:nvSpPr>
        <p:spPr>
          <a:xfrm>
            <a:off x="8904613" y="6351827"/>
            <a:ext cx="1748670" cy="343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lvl="1" algn="just" fontAlgn="base">
              <a:lnSpc>
                <a:spcPct val="90000"/>
              </a:lnSpc>
              <a:spcBef>
                <a:spcPts val="0"/>
              </a:spcBef>
            </a:pPr>
            <a:r>
              <a:rPr lang="ru-RU" dirty="0">
                <a:ea typeface="Verdana" panose="020B0604030504040204" pitchFamily="34" charset="0"/>
                <a:cs typeface="Verdana" panose="020B0604030504040204" pitchFamily="34" charset="0"/>
              </a:rPr>
              <a:t>Схема модели </a:t>
            </a:r>
            <a:endParaRPr lang="ru-RU" sz="18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377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3DD0EEB-5277-489A-B9FE-77CECE4C6411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6AEE3EC-AE31-4913-843B-33079C5871A3}"/>
              </a:ext>
            </a:extLst>
          </p:cNvPr>
          <p:cNvSpPr txBox="1">
            <a:spLocks/>
          </p:cNvSpPr>
          <p:nvPr/>
        </p:nvSpPr>
        <p:spPr>
          <a:xfrm>
            <a:off x="1982913" y="162795"/>
            <a:ext cx="9486276" cy="6459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spcAft>
                <a:spcPts val="0"/>
              </a:spcAft>
            </a:pPr>
            <a:r>
              <a:rPr lang="ru-RU" sz="2400" b="1" cap="all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АРХИТЕКТУРА ПРИЛОЖЕНИЯ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441B485-D7CD-49CD-A4E6-BA79C5E7DDC0}"/>
              </a:ext>
            </a:extLst>
          </p:cNvPr>
          <p:cNvSpPr/>
          <p:nvPr/>
        </p:nvSpPr>
        <p:spPr>
          <a:xfrm>
            <a:off x="421906" y="1260525"/>
            <a:ext cx="5560883" cy="3782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9525">
              <a:lnSpc>
                <a:spcPct val="150000"/>
              </a:lnSpc>
            </a:pP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Схема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основных компонентов приложения и их взаимодействия:</a:t>
            </a:r>
          </a:p>
          <a:p>
            <a:pPr marL="342900" lvl="0" indent="-342900">
              <a:lnSpc>
                <a:spcPct val="150000"/>
              </a:lnSpc>
              <a:buFont typeface="Symbol" pitchFamily="2" charset="2"/>
              <a:buChar char="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Модель машинного обучения.</a:t>
            </a:r>
          </a:p>
          <a:p>
            <a:pPr marL="342900" lvl="0" indent="-342900">
              <a:lnSpc>
                <a:spcPct val="150000"/>
              </a:lnSpc>
              <a:buFont typeface="Symbol" pitchFamily="2" charset="2"/>
              <a:buChar char="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Используемый инструмент для создания приложения (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Streamlit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FastAPI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</a:p>
          <a:p>
            <a:pPr marL="342900" lvl="0" indent="-342900">
              <a:lnSpc>
                <a:spcPct val="150000"/>
              </a:lnSpc>
              <a:buFont typeface="Symbol" pitchFamily="2" charset="2"/>
              <a:buChar char="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Код приложения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Написан на языке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Python.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Symbol" pitchFamily="2" charset="2"/>
              <a:buChar char="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Пользовательский клиент: любые современные веб-браузеры на ПК или смартфонах (Chrome, Safari,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Яндекс.Браузер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</a:p>
        </p:txBody>
      </p:sp>
      <p:pic>
        <p:nvPicPr>
          <p:cNvPr id="2052" name="Picture 4" descr="Схема компонентов приложения">
            <a:extLst>
              <a:ext uri="{FF2B5EF4-FFF2-40B4-BE49-F238E27FC236}">
                <a16:creationId xmlns:a16="http://schemas.microsoft.com/office/drawing/2014/main" id="{8AA871F6-737B-2A67-2387-AAC5C431BC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99" b="18915"/>
          <a:stretch/>
        </p:blipFill>
        <p:spPr bwMode="auto">
          <a:xfrm>
            <a:off x="5868489" y="2145785"/>
            <a:ext cx="6027684" cy="289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6719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3DD0EEB-5277-489A-B9FE-77CECE4C6411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6AEE3EC-AE31-4913-843B-33079C5871A3}"/>
              </a:ext>
            </a:extLst>
          </p:cNvPr>
          <p:cNvSpPr txBox="1">
            <a:spLocks/>
          </p:cNvSpPr>
          <p:nvPr/>
        </p:nvSpPr>
        <p:spPr>
          <a:xfrm>
            <a:off x="1982913" y="162795"/>
            <a:ext cx="9486276" cy="6459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spcAft>
                <a:spcPts val="0"/>
              </a:spcAft>
            </a:pPr>
            <a:r>
              <a:rPr lang="ru-RU" sz="2400" b="1" cap="all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ДЕМОНСТРАЦИЯ ПРИЛОЖЕНИЯ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385886E-53DE-F54D-F8BC-7077411DAE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60" t="3929" r="4515"/>
          <a:stretch/>
        </p:blipFill>
        <p:spPr>
          <a:xfrm>
            <a:off x="1173190" y="2380498"/>
            <a:ext cx="4758911" cy="30202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9BC826-69E1-8BFB-DA75-862BF314D723}"/>
              </a:ext>
            </a:extLst>
          </p:cNvPr>
          <p:cNvSpPr txBox="1"/>
          <p:nvPr/>
        </p:nvSpPr>
        <p:spPr>
          <a:xfrm>
            <a:off x="2604014" y="5409177"/>
            <a:ext cx="1748670" cy="343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lvl="1" algn="just" fontAlgn="base">
              <a:lnSpc>
                <a:spcPct val="9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Главный экран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AE7DD50-0E08-E436-EE91-B177A8B89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764" y="2380497"/>
            <a:ext cx="5045284" cy="30190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56DE66E-0176-74D1-E86C-A1CA369F84AD}"/>
              </a:ext>
            </a:extLst>
          </p:cNvPr>
          <p:cNvSpPr txBox="1"/>
          <p:nvPr/>
        </p:nvSpPr>
        <p:spPr>
          <a:xfrm>
            <a:off x="8372206" y="5399549"/>
            <a:ext cx="1748670" cy="343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lvl="1" algn="just" fontAlgn="base">
              <a:lnSpc>
                <a:spcPct val="9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Анализ отзыва</a:t>
            </a:r>
          </a:p>
        </p:txBody>
      </p:sp>
    </p:spTree>
    <p:extLst>
      <p:ext uri="{BB962C8B-B14F-4D97-AF65-F5344CB8AC3E}">
        <p14:creationId xmlns:p14="http://schemas.microsoft.com/office/powerpoint/2010/main" val="4166088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3DD0EEB-5277-489A-B9FE-77CECE4C6411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6AEE3EC-AE31-4913-843B-33079C5871A3}"/>
              </a:ext>
            </a:extLst>
          </p:cNvPr>
          <p:cNvSpPr txBox="1">
            <a:spLocks/>
          </p:cNvSpPr>
          <p:nvPr/>
        </p:nvSpPr>
        <p:spPr>
          <a:xfrm>
            <a:off x="1982913" y="162795"/>
            <a:ext cx="9486276" cy="6459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spcAft>
                <a:spcPts val="0"/>
              </a:spcAft>
            </a:pPr>
            <a:r>
              <a:rPr lang="ru-RU" sz="2400" b="1" cap="all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ОРГАНИЗАЦИЯ КОМАНДНОЙ РАЗРАБОТКИ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D44A65F-E188-4968-B07C-25421CD26538}"/>
              </a:ext>
            </a:extLst>
          </p:cNvPr>
          <p:cNvSpPr/>
          <p:nvPr/>
        </p:nvSpPr>
        <p:spPr>
          <a:xfrm>
            <a:off x="421906" y="1260525"/>
            <a:ext cx="55608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lvl="1" algn="just" fontAlgn="base">
              <a:lnSpc>
                <a:spcPct val="90000"/>
              </a:lnSpc>
            </a:pPr>
            <a:r>
              <a:rPr lang="ru-RU" sz="20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Репозиторий  </a:t>
            </a:r>
            <a:r>
              <a:rPr lang="en-US" sz="20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GitHub:</a:t>
            </a:r>
            <a:endParaRPr lang="ru-RU" sz="20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12700" lvl="1" algn="just" fontAlgn="base">
              <a:lnSpc>
                <a:spcPct val="90000"/>
              </a:lnSpc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Sylvanas128/orbit-reviews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CEA7558-B11A-6C05-893F-8B554C7FA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85" y="1993119"/>
            <a:ext cx="5577515" cy="434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759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3DD0EEB-5277-489A-B9FE-77CECE4C6411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6AEE3EC-AE31-4913-843B-33079C5871A3}"/>
              </a:ext>
            </a:extLst>
          </p:cNvPr>
          <p:cNvSpPr txBox="1">
            <a:spLocks/>
          </p:cNvSpPr>
          <p:nvPr/>
        </p:nvSpPr>
        <p:spPr>
          <a:xfrm>
            <a:off x="1982913" y="162795"/>
            <a:ext cx="9486276" cy="6459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spcAft>
                <a:spcPts val="0"/>
              </a:spcAft>
            </a:pPr>
            <a:r>
              <a:rPr lang="ru-RU" sz="2400" b="1" cap="all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ТЕСТЫ/</a:t>
            </a:r>
            <a:r>
              <a:rPr lang="en-US" sz="2400" b="1" cap="all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CI/</a:t>
            </a:r>
            <a:r>
              <a:rPr lang="ru-RU" sz="2400" b="1" cap="all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развертывание в облаке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D44A65F-E188-4968-B07C-25421CD26538}"/>
              </a:ext>
            </a:extLst>
          </p:cNvPr>
          <p:cNvSpPr/>
          <p:nvPr/>
        </p:nvSpPr>
        <p:spPr>
          <a:xfrm>
            <a:off x="500283" y="1230294"/>
            <a:ext cx="109689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lvl="1" algn="just" fontAlgn="base">
              <a:lnSpc>
                <a:spcPct val="90000"/>
              </a:lnSpc>
            </a:pPr>
            <a:r>
              <a:rPr lang="ru-RU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Приложение было развернуто в облаке </a:t>
            </a:r>
            <a:r>
              <a:rPr lang="en-US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streamlit.io </a:t>
            </a:r>
            <a:r>
              <a:rPr lang="ru-RU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с помощью функции </a:t>
            </a:r>
            <a:r>
              <a:rPr lang="en-US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Create app </a:t>
            </a:r>
            <a:r>
              <a:rPr lang="ru-RU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напрямую с </a:t>
            </a:r>
            <a:r>
              <a:rPr lang="en-US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GitHub</a:t>
            </a:r>
            <a:endParaRPr lang="ru-RU" sz="20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887F8C4-95B5-FCC4-BBC2-B6861E5B7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82" y="1803796"/>
            <a:ext cx="11115505" cy="137503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D164E3E-3676-D3C0-40D1-84C54A0168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250" t="10320" r="7715" b="12770"/>
          <a:stretch/>
        </p:blipFill>
        <p:spPr>
          <a:xfrm>
            <a:off x="698742" y="3522439"/>
            <a:ext cx="6590580" cy="234638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2A6D0D4-8C24-12BC-AB5A-96E81531AB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324" t="7153" r="6509"/>
          <a:stretch/>
        </p:blipFill>
        <p:spPr>
          <a:xfrm>
            <a:off x="7887421" y="3252294"/>
            <a:ext cx="4123427" cy="344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0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3DD0EEB-5277-489A-B9FE-77CECE4C6411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6AEE3EC-AE31-4913-843B-33079C5871A3}"/>
              </a:ext>
            </a:extLst>
          </p:cNvPr>
          <p:cNvSpPr txBox="1">
            <a:spLocks/>
          </p:cNvSpPr>
          <p:nvPr/>
        </p:nvSpPr>
        <p:spPr>
          <a:xfrm>
            <a:off x="1982913" y="162795"/>
            <a:ext cx="9486276" cy="6459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spcAft>
                <a:spcPts val="0"/>
              </a:spcAft>
            </a:pPr>
            <a:r>
              <a:rPr lang="ru-RU" sz="2400" b="1" cap="all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ИТОГИ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859100C-1BEA-48D9-9758-3D655F102C29}"/>
              </a:ext>
            </a:extLst>
          </p:cNvPr>
          <p:cNvSpPr/>
          <p:nvPr/>
        </p:nvSpPr>
        <p:spPr>
          <a:xfrm>
            <a:off x="421906" y="1286399"/>
            <a:ext cx="5560883" cy="4579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lvl="1" algn="just" fontAlgn="base">
              <a:lnSpc>
                <a:spcPct val="90000"/>
              </a:lnSpc>
            </a:pPr>
            <a:r>
              <a:rPr lang="ru-RU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Краткое описание полученных результатов</a:t>
            </a:r>
          </a:p>
          <a:p>
            <a:pPr marL="342900" lvl="0" indent="-342900">
              <a:lnSpc>
                <a:spcPct val="150000"/>
              </a:lnSpc>
              <a:buFont typeface="Symbol" pitchFamily="2" charset="2"/>
              <a:buChar char=""/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Сделан рабочий сайт, который умеет принимать отзывы от пользователей и за секунду определять их тональность (хороший или плохой).</a:t>
            </a:r>
          </a:p>
          <a:p>
            <a:pPr marL="342900" lvl="0" indent="-342900">
              <a:lnSpc>
                <a:spcPct val="150000"/>
              </a:lnSpc>
              <a:buFont typeface="Symbol" pitchFamily="2" charset="2"/>
              <a:buChar char=""/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Использовал готовую модель машинного обучения — 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пайплайн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из TF-IDF и Логистической регрессии, который я сохранил в файл 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model.pkl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TfidfVectorizer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LogisticRegression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lvl="0" indent="-342900">
              <a:lnSpc>
                <a:spcPct val="150000"/>
              </a:lnSpc>
              <a:buFont typeface="Symbol" pitchFamily="2" charset="2"/>
              <a:buChar char=""/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Разделил проект на независимый сервер (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и интерфейс сайта (</a:t>
            </a:r>
            <a:r>
              <a:rPr lang="ru-RU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55600" lvl="1" indent="-342900" algn="just" fontAlgn="bas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Успешно развернут приложение в интернете на бесплатной платформе </a:t>
            </a:r>
            <a:r>
              <a:rPr lang="ru-RU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Streamlit</a:t>
            </a:r>
            <a:r>
              <a:rPr 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Cloud</a:t>
            </a:r>
            <a:r>
              <a:rPr lang="ru-RU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5322A68-87C4-417D-8E3D-5B22DB5CACA8}"/>
              </a:ext>
            </a:extLst>
          </p:cNvPr>
          <p:cNvSpPr/>
          <p:nvPr/>
        </p:nvSpPr>
        <p:spPr>
          <a:xfrm>
            <a:off x="6209211" y="1260525"/>
            <a:ext cx="5560883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lvl="1" algn="just" fontAlgn="base">
              <a:lnSpc>
                <a:spcPct val="90000"/>
              </a:lnSpc>
            </a:pPr>
            <a:r>
              <a:rPr lang="ru-RU" sz="20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Ссылка на репозиторий с кодом</a:t>
            </a:r>
          </a:p>
          <a:p>
            <a:pPr marL="355600" lvl="1" indent="-342900" algn="just" fontAlgn="bas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Sylvanas128/orbit-reviews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lvl="1" algn="just" fontAlgn="base">
              <a:lnSpc>
                <a:spcPct val="90000"/>
              </a:lnSpc>
              <a:spcBef>
                <a:spcPts val="0"/>
              </a:spcBef>
            </a:pPr>
            <a:endParaRPr lang="en-US" sz="20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12700" lvl="1" algn="just" fontAlgn="base">
              <a:lnSpc>
                <a:spcPct val="90000"/>
              </a:lnSpc>
            </a:pPr>
            <a:r>
              <a:rPr lang="ru-RU" sz="2000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Планируемые дальнейшие действия</a:t>
            </a:r>
          </a:p>
          <a:p>
            <a:pPr marL="355600" lvl="1" indent="-342900" algn="just" fontAlgn="bas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Улучшение модели: Заменить классический алгоритм на современную и глубокую нейросеть-трансформер, чтобы сайт научился понимать сложный молодежный сленг и сарказм в отзывах.</a:t>
            </a:r>
          </a:p>
          <a:p>
            <a:pPr marL="355600" lvl="1" indent="-342900" algn="just" fontAlgn="base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Расширение функций: Сделать так, чтобы модель не просто говорила «хорошо/плохо», а умела ставить оценку от 1 до 5 звезд, как на реальных маркетплейсах.</a:t>
            </a:r>
            <a:endParaRPr lang="ru-RU" sz="20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578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3DD0EEB-5277-489A-B9FE-77CECE4C6411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6AEE3EC-AE31-4913-843B-33079C5871A3}"/>
              </a:ext>
            </a:extLst>
          </p:cNvPr>
          <p:cNvSpPr txBox="1">
            <a:spLocks/>
          </p:cNvSpPr>
          <p:nvPr/>
        </p:nvSpPr>
        <p:spPr>
          <a:xfrm>
            <a:off x="925620" y="3175961"/>
            <a:ext cx="10865327" cy="6459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4400">
              <a:spcAft>
                <a:spcPts val="0"/>
              </a:spcAft>
            </a:pPr>
            <a:r>
              <a:rPr lang="ru-RU" sz="2400" b="1" cap="all" dirty="0">
                <a:solidFill>
                  <a:srgbClr val="C00000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46AA37-D9E8-497C-80E1-BA0A4BC4ADD3}"/>
              </a:ext>
            </a:extLst>
          </p:cNvPr>
          <p:cNvSpPr txBox="1"/>
          <p:nvPr/>
        </p:nvSpPr>
        <p:spPr>
          <a:xfrm>
            <a:off x="743344" y="5122227"/>
            <a:ext cx="50957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Контакты: </a:t>
            </a:r>
            <a:r>
              <a:rPr 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supe.raincraft@mail.ru</a:t>
            </a:r>
            <a:endParaRPr lang="ru-RU" sz="20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2190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431</Words>
  <Application>Microsoft Office PowerPoint</Application>
  <PresentationFormat>Широкоэкранный</PresentationFormat>
  <Paragraphs>56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Symbol</vt:lpstr>
      <vt:lpstr>Times New Roman</vt:lpstr>
      <vt:lpstr>Verdana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Валентина</dc:creator>
  <cp:lastModifiedBy>Kirill Tsarev</cp:lastModifiedBy>
  <cp:revision>53</cp:revision>
  <dcterms:created xsi:type="dcterms:W3CDTF">2020-10-21T08:07:57Z</dcterms:created>
  <dcterms:modified xsi:type="dcterms:W3CDTF">2026-10-25T09:39:44Z</dcterms:modified>
</cp:coreProperties>
</file>